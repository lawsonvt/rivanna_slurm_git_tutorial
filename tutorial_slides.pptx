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3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25CD2-CE1A-124C-9952-EE43228094B5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15154-55ED-744E-90C6-4BB2F12A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6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5154-55ED-744E-90C6-4BB2F12ADE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70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5154-55ED-744E-90C6-4BB2F12ADE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04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5154-55ED-744E-90C6-4BB2F12ADE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41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77DC-BB70-E75D-F32F-944621F2D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1B2D7-E409-1384-59DD-FCCB44AAF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715B-95FE-89D6-BB99-4BF231D4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CAF31-A283-71C9-E6ED-EDEA2002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18E23-A27C-9598-ADE1-231B508E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0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1BEC-2B13-05A8-DB57-59BC9282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9064-1E67-703A-9A46-0CEC54F40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69A59-4D4F-E01E-99DB-5612369F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5E772-1218-699A-502D-601E0C0D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35030-1DEB-4AAF-3FF4-2E22ED71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38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7E82-170B-9C68-D963-D1A8E9F9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7390F-C827-2568-B854-761689BBB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5C30B-4E91-1F7D-0E0E-14E70DD70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ACBBE-6C3D-A94B-D27F-CC919053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D3EC8-8755-9E5A-7C27-E89CCBB1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1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97B9-5ACA-8AB8-C408-9C80400F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22E6-CE71-B6AD-0631-18596965E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472A9-F215-74FB-EF87-BAFF20D9A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5F8-0486-A235-D695-DFFBA089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52346-5BEF-16F9-6E3A-56127F5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14C94-77A8-438D-EF5A-0C4CF4A9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11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9151-E069-E1D2-E218-5A000C03C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8ED5D-26BA-A780-F116-1A25AF6A7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DBB62-F7D2-2917-0461-A21C00F27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5181AF-4E36-5572-F797-70AF67729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C4704-FE75-2AE7-E188-E066A43E4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3A0B9-5CE4-E9A0-C6DB-1756D56A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9565E-A33F-F96B-E0A2-825F0948D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AE174-5383-6E7A-BEDD-5636BC9E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0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5F44-C8F7-EC07-7995-BEBA7A97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26DBA-56F4-326F-0713-D2A16648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F44B7-6664-9C9C-0B12-F8932AE4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D1A69-C4B0-ECEE-0333-04C21925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07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57B5C-BCAB-04C0-9DBB-29B99CE7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5DCD9-5878-00B0-48A4-84BDD3C2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FEE46-34DF-644A-0CC9-B677B293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5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B1AB-779C-484B-B520-AB8031CD3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8B0A-2E8D-8661-5DC2-6E391212A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32B39-89FC-1A15-11C6-552A46133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2D108-74B0-37DE-D6C8-78F222EC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A374A-CBA8-BE5B-52CA-6533368A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45CA1-5ECD-630C-C441-CB3834EB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7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723C-E035-D46D-9C4A-C8E63604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B3A7B-287F-4998-046A-11251FFB6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36830-B7F7-78E1-DBE1-6DAAB9A35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D4C2D-D8BB-722C-6497-9E5CE81EB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9D3F9-672E-A6E1-1095-9E112123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CFA17-B109-D95B-693C-C4932CBF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5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87B2B-F8C8-0813-DE4D-14D272594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A29D6-0F67-0ABB-F850-C1093266F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C868-BDCD-313A-5D8C-530F67BF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AF3CA-CE72-713B-83FD-03704F88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125B7-F87D-83A6-6D9B-6EF8DD5D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9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414D0-F3F3-1CD7-92D5-65B9118FB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0A431-AB49-5122-2D36-25FFF8056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B3BB8-EF58-32F2-6C24-A9DD9DBA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265EB-64C3-FEA3-267E-917B027B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F1CE-D8AE-59F2-D87C-F30F1F24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2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557BAD-E0C7-491B-62A9-99BC64D9E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FE869-8ED6-AC2E-250B-68D989A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8CB5A-A5C5-2AAC-FCB8-F6CEE1B7C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ED7D0-C9C9-BA46-A8DD-D7B378BD36C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BF0E6-998D-403E-C03E-52BFDC555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2E09-8009-CCF7-3809-DB714B381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A9D87-2213-BC40-A60B-1404F4A6B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9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G-UVA/rivanna_slurm_git_tutoria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C6FA-C3C3-45E5-FB7E-8CE29814E1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HPC Analyses with </a:t>
            </a:r>
            <a:br>
              <a:rPr lang="en-US" dirty="0"/>
            </a:br>
            <a:r>
              <a:rPr lang="en-US" dirty="0"/>
              <a:t>Code Versioning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4E8AD-9CD8-3E31-ACCC-092E18475C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combine Rivanna and </a:t>
            </a:r>
            <a:r>
              <a:rPr lang="en-US" dirty="0" err="1"/>
              <a:t>Github</a:t>
            </a:r>
            <a:r>
              <a:rPr lang="en-US" dirty="0"/>
              <a:t> </a:t>
            </a:r>
          </a:p>
          <a:p>
            <a:r>
              <a:rPr lang="en-US" dirty="0"/>
              <a:t>for better </a:t>
            </a:r>
            <a:r>
              <a:rPr lang="en-US" strike="sngStrike" dirty="0"/>
              <a:t>data science</a:t>
            </a:r>
            <a:r>
              <a:rPr lang="en-US" dirty="0"/>
              <a:t> neuroscience</a:t>
            </a:r>
            <a:endParaRPr lang="en-US" strike="sngStrik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43928-9E94-24BA-5F7A-7A2FEE647F53}"/>
              </a:ext>
            </a:extLst>
          </p:cNvPr>
          <p:cNvSpPr txBox="1"/>
          <p:nvPr/>
        </p:nvSpPr>
        <p:spPr>
          <a:xfrm>
            <a:off x="777765" y="4996973"/>
            <a:ext cx="4792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 J. Lawson, PhD</a:t>
            </a:r>
          </a:p>
          <a:p>
            <a:r>
              <a:rPr lang="en-US" dirty="0"/>
              <a:t>Senior Biostatistician</a:t>
            </a:r>
          </a:p>
          <a:p>
            <a:endParaRPr lang="en-US" dirty="0"/>
          </a:p>
          <a:p>
            <a:r>
              <a:rPr lang="en-US" dirty="0"/>
              <a:t>Department of Neuroscience</a:t>
            </a:r>
          </a:p>
          <a:p>
            <a:r>
              <a:rPr lang="en-US" dirty="0"/>
              <a:t>Center for Brain, Immunology, and Glia (BIG)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0892C-A6F0-0B53-EC4D-7CF92698F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185" y="5270706"/>
            <a:ext cx="1849975" cy="1298347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E004EB2C-2084-E83B-BD86-A1D883E5F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160" y="5168173"/>
            <a:ext cx="1746208" cy="14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9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7177-1653-B62F-AA46-E0D03C28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5B18E-6D68-8795-F2D2-27B164E6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why and how of using a code versioning system like </a:t>
            </a:r>
            <a:r>
              <a:rPr lang="en-US" b="1" dirty="0"/>
              <a:t>git / </a:t>
            </a:r>
            <a:r>
              <a:rPr lang="en-US" b="1" dirty="0" err="1"/>
              <a:t>Github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Know how to get started with your project on UVA’s high performance cluster Rivanna using a </a:t>
            </a:r>
            <a:r>
              <a:rPr lang="en-US" b="1" dirty="0"/>
              <a:t>Unix</a:t>
            </a:r>
            <a:r>
              <a:rPr lang="en-US" dirty="0"/>
              <a:t> terminal</a:t>
            </a:r>
          </a:p>
          <a:p>
            <a:endParaRPr lang="en-US" dirty="0"/>
          </a:p>
          <a:p>
            <a:r>
              <a:rPr lang="en-US" dirty="0"/>
              <a:t>How to submit a job that requires high performance to Rivanna using </a:t>
            </a:r>
            <a:r>
              <a:rPr lang="en-US" b="1" dirty="0" err="1"/>
              <a:t>slurm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0522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B837-6E5E-5D2F-CB73-048EDD98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B666-3FB4-2469-F149-AD41D416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main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F51DF-EFDF-B3C3-8674-2732AD097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124" y="1825625"/>
            <a:ext cx="8179676" cy="4351338"/>
          </a:xfrm>
        </p:spPr>
        <p:txBody>
          <a:bodyPr/>
          <a:lstStyle/>
          <a:p>
            <a:r>
              <a:rPr lang="en-US" b="1" dirty="0"/>
              <a:t>git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Unix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slurm</a:t>
            </a:r>
            <a:endParaRPr lang="en-US" b="1" dirty="0"/>
          </a:p>
        </p:txBody>
      </p:sp>
      <p:pic>
        <p:nvPicPr>
          <p:cNvPr id="5" name="Picture 4" descr="Cartoon a cartoon of a person in front of a door&#10;&#10;AI-generated content may be incorrect.">
            <a:extLst>
              <a:ext uri="{FF2B5EF4-FFF2-40B4-BE49-F238E27FC236}">
                <a16:creationId xmlns:a16="http://schemas.microsoft.com/office/drawing/2014/main" id="{37020508-E4A8-22AF-39CC-7939898E0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48" y="1375378"/>
            <a:ext cx="1718003" cy="1718003"/>
          </a:xfrm>
          <a:prstGeom prst="rect">
            <a:avLst/>
          </a:prstGeom>
        </p:spPr>
      </p:pic>
      <p:pic>
        <p:nvPicPr>
          <p:cNvPr id="7" name="Picture 6" descr="A cartoon character on a surfboard&#10;&#10;AI-generated content may be incorrect.">
            <a:extLst>
              <a:ext uri="{FF2B5EF4-FFF2-40B4-BE49-F238E27FC236}">
                <a16:creationId xmlns:a16="http://schemas.microsoft.com/office/drawing/2014/main" id="{1F26C7D0-C605-4A5F-72E9-B53754564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157" y="4317206"/>
            <a:ext cx="2906764" cy="2175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6536CB-BADF-724C-3806-BADE4EEDA4FD}"/>
              </a:ext>
            </a:extLst>
          </p:cNvPr>
          <p:cNvSpPr txBox="1"/>
          <p:nvPr/>
        </p:nvSpPr>
        <p:spPr>
          <a:xfrm>
            <a:off x="6379780" y="3429000"/>
            <a:ext cx="2827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Like multiple eunuchs …?</a:t>
            </a:r>
          </a:p>
        </p:txBody>
      </p:sp>
    </p:spTree>
    <p:extLst>
      <p:ext uri="{BB962C8B-B14F-4D97-AF65-F5344CB8AC3E}">
        <p14:creationId xmlns:p14="http://schemas.microsoft.com/office/powerpoint/2010/main" val="53451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BF22-1811-2282-17AA-6DB6B3E8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git</a:t>
            </a:r>
            <a:r>
              <a:rPr lang="en-US" sz="4000" dirty="0"/>
              <a:t> is a way to store and version control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0DBB-E25E-E779-0A22-D6F1F28E7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“A system that tracks every change to your files over time, like an unlimited </a:t>
            </a:r>
            <a:r>
              <a:rPr lang="en-US" b="1" dirty="0"/>
              <a:t>undo</a:t>
            </a:r>
            <a:r>
              <a:rPr lang="en-US" dirty="0"/>
              <a:t> button with a complete history”</a:t>
            </a:r>
          </a:p>
          <a:p>
            <a:r>
              <a:rPr lang="en-US" dirty="0"/>
              <a:t>Provides an interface for </a:t>
            </a:r>
            <a:r>
              <a:rPr lang="en-US" b="1" dirty="0"/>
              <a:t>who</a:t>
            </a:r>
            <a:r>
              <a:rPr lang="en-US" dirty="0"/>
              <a:t> made the changes and </a:t>
            </a:r>
            <a:r>
              <a:rPr lang="en-US" b="1" dirty="0"/>
              <a:t>why</a:t>
            </a:r>
            <a:r>
              <a:rPr lang="en-US" dirty="0"/>
              <a:t> they were made</a:t>
            </a:r>
          </a:p>
          <a:p>
            <a:pPr lvl="1"/>
            <a:r>
              <a:rPr lang="en-US" dirty="0"/>
              <a:t>Allows for easy collaboration between a team of researchers</a:t>
            </a:r>
          </a:p>
          <a:p>
            <a:r>
              <a:rPr lang="en-US" dirty="0"/>
              <a:t>Can roll back to a </a:t>
            </a:r>
            <a:r>
              <a:rPr lang="en-US" b="1" dirty="0"/>
              <a:t>previous version</a:t>
            </a:r>
            <a:r>
              <a:rPr lang="en-US" dirty="0"/>
              <a:t> as they are all preserved</a:t>
            </a:r>
          </a:p>
          <a:p>
            <a:pPr lvl="1"/>
            <a:r>
              <a:rPr lang="en-US" dirty="0"/>
              <a:t>Can ensure </a:t>
            </a:r>
            <a:r>
              <a:rPr lang="en-US" b="1" dirty="0"/>
              <a:t>reproducibility</a:t>
            </a:r>
            <a:r>
              <a:rPr lang="en-US" dirty="0"/>
              <a:t> of an analysis</a:t>
            </a:r>
          </a:p>
          <a:p>
            <a:r>
              <a:rPr lang="en-US" dirty="0"/>
              <a:t>A </a:t>
            </a:r>
            <a:r>
              <a:rPr lang="en-US" b="1" dirty="0"/>
              <a:t>central repository</a:t>
            </a:r>
            <a:r>
              <a:rPr lang="en-US" dirty="0"/>
              <a:t> (</a:t>
            </a:r>
            <a:r>
              <a:rPr lang="en-US" dirty="0" err="1"/>
              <a:t>Github</a:t>
            </a:r>
            <a:r>
              <a:rPr lang="en-US" dirty="0"/>
              <a:t>, Gitlab) that can be shared amongst team members and external collaborators</a:t>
            </a:r>
          </a:p>
          <a:p>
            <a:pPr lvl="1"/>
            <a:r>
              <a:rPr lang="en-US" dirty="0"/>
              <a:t>Even for just an individual to share between different computers …</a:t>
            </a:r>
          </a:p>
          <a:p>
            <a:r>
              <a:rPr lang="en-US" b="1" dirty="0"/>
              <a:t>git</a:t>
            </a:r>
            <a:r>
              <a:rPr lang="en-US" dirty="0"/>
              <a:t> is meant for </a:t>
            </a:r>
            <a:r>
              <a:rPr lang="en-US" b="1" dirty="0"/>
              <a:t>code </a:t>
            </a:r>
            <a:r>
              <a:rPr lang="en-US" dirty="0"/>
              <a:t>and </a:t>
            </a:r>
            <a:r>
              <a:rPr lang="en-US" b="1" u="sng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19267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8590-7279-F17B-8C35-98E95B097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935BF-4CA3-81B6-794B-6B2D12B68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US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/clone</a:t>
            </a:r>
          </a:p>
          <a:p>
            <a:pPr lvl="1"/>
            <a:r>
              <a:rPr lang="en-US" dirty="0"/>
              <a:t>Create a new git repository (</a:t>
            </a:r>
            <a:r>
              <a:rPr lang="en-US" dirty="0" err="1"/>
              <a:t>init</a:t>
            </a:r>
            <a:r>
              <a:rPr lang="en-US" dirty="0"/>
              <a:t>) or download a repository (clone)</a:t>
            </a:r>
          </a:p>
          <a:p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  <a:p>
            <a:pPr lvl="1"/>
            <a:r>
              <a:rPr lang="en-US" dirty="0"/>
              <a:t>Add a new file to be tracked by git version control</a:t>
            </a:r>
          </a:p>
          <a:p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  <a:p>
            <a:pPr lvl="1"/>
            <a:r>
              <a:rPr lang="en-US" dirty="0"/>
              <a:t>Save changes to the file and a comment about the change to the repository</a:t>
            </a:r>
          </a:p>
          <a:p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  <a:p>
            <a:pPr lvl="1"/>
            <a:r>
              <a:rPr lang="en-US" dirty="0"/>
              <a:t>Save all commits to the repository to an external location</a:t>
            </a:r>
          </a:p>
          <a:p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  <a:p>
            <a:pPr lvl="1"/>
            <a:r>
              <a:rPr lang="en-US" dirty="0"/>
              <a:t>Download all changes to the repository to your local version</a:t>
            </a:r>
          </a:p>
          <a:p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git fork</a:t>
            </a:r>
          </a:p>
          <a:p>
            <a:pPr lvl="1"/>
            <a:r>
              <a:rPr lang="en-US" dirty="0"/>
              <a:t>Create a copy of a different repository to make your own modifications</a:t>
            </a:r>
          </a:p>
        </p:txBody>
      </p:sp>
      <p:pic>
        <p:nvPicPr>
          <p:cNvPr id="5" name="Picture 4" descr="A red and black logo&#10;&#10;AI-generated content may be incorrect.">
            <a:extLst>
              <a:ext uri="{FF2B5EF4-FFF2-40B4-BE49-F238E27FC236}">
                <a16:creationId xmlns:a16="http://schemas.microsoft.com/office/drawing/2014/main" id="{F0FB9CCE-38A4-295D-19FA-88044EC73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05" y="1376035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9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33410-D60C-B8D4-0B8E-65579FAAF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advanced 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E95A-FB82-7DE4-0004-4B742DEFA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076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git branch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Create a branch in the code, so crazy new ideas can be experimented with</a:t>
            </a:r>
          </a:p>
          <a:p>
            <a:pPr lvl="1"/>
            <a:r>
              <a:rPr lang="en-US" dirty="0"/>
              <a:t>Main branch of the code is unaffected, just in case those crazy new ideas end up breaking things</a:t>
            </a:r>
          </a:p>
          <a:p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git merge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Hey, looks like that crazy new idea does work! Let’s merge it back in with the main branch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git automates merging in the changes (and typically does a good job) but might require hand-holding if changes are complex</a:t>
            </a:r>
          </a:p>
        </p:txBody>
      </p:sp>
      <p:pic>
        <p:nvPicPr>
          <p:cNvPr id="5" name="Picture 4" descr="A diagram of a branch&#10;&#10;AI-generated content may be incorrect.">
            <a:extLst>
              <a:ext uri="{FF2B5EF4-FFF2-40B4-BE49-F238E27FC236}">
                <a16:creationId xmlns:a16="http://schemas.microsoft.com/office/drawing/2014/main" id="{B8B602AD-EA4A-2398-B442-76B0BC92F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787" y="1910888"/>
            <a:ext cx="5069542" cy="360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7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EBD8-C6D3-3846-7C36-F30CB4DD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is online storage to store and share code using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4948-08FD-DAB6-2E1D-FE47F8F76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An online storage space that serves as the hub for your code</a:t>
            </a:r>
          </a:p>
          <a:p>
            <a:r>
              <a:rPr lang="en-US" dirty="0"/>
              <a:t>Free to join, free to store code</a:t>
            </a:r>
          </a:p>
          <a:p>
            <a:pPr lvl="1"/>
            <a:r>
              <a:rPr lang="en-US" dirty="0"/>
              <a:t>Especially if you are publicly sharing your code</a:t>
            </a:r>
          </a:p>
          <a:p>
            <a:pPr lvl="1"/>
            <a:r>
              <a:rPr lang="en-US" dirty="0"/>
              <a:t>Private code has restrictions and might require payment</a:t>
            </a:r>
          </a:p>
          <a:p>
            <a:r>
              <a:rPr lang="en-US" dirty="0"/>
              <a:t>User controls who can make changes to code</a:t>
            </a:r>
          </a:p>
          <a:p>
            <a:pPr lvl="1"/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ED7496-D92B-D151-C0E0-479CBABCD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607" y="1922136"/>
            <a:ext cx="5160268" cy="41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8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2D96-7C55-DE93-C500-AC2D0132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/ </a:t>
            </a:r>
            <a:r>
              <a:rPr lang="en-US" dirty="0" err="1"/>
              <a:t>Github</a:t>
            </a:r>
            <a:r>
              <a:rPr lang="en-US" dirty="0"/>
              <a:t> integrates well with 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A0688-98E8-2909-40E3-77738C791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0148" cy="4351338"/>
          </a:xfrm>
        </p:spPr>
        <p:txBody>
          <a:bodyPr/>
          <a:lstStyle/>
          <a:p>
            <a:r>
              <a:rPr lang="en-US" dirty="0"/>
              <a:t>Initializing a project with git in </a:t>
            </a:r>
            <a:r>
              <a:rPr lang="en-US" dirty="0" err="1"/>
              <a:t>Rstudio</a:t>
            </a:r>
            <a:r>
              <a:rPr lang="en-US" dirty="0"/>
              <a:t> creates the git control panel</a:t>
            </a:r>
          </a:p>
          <a:p>
            <a:endParaRPr lang="en-US" dirty="0"/>
          </a:p>
          <a:p>
            <a:r>
              <a:rPr lang="en-US" dirty="0"/>
              <a:t>This panel gives you controls for all commonly used git commands</a:t>
            </a:r>
          </a:p>
          <a:p>
            <a:pPr lvl="1"/>
            <a:r>
              <a:rPr lang="en-US" dirty="0"/>
              <a:t>Visual overview of files and untracked changes</a:t>
            </a:r>
          </a:p>
          <a:p>
            <a:pPr lvl="1"/>
            <a:r>
              <a:rPr lang="en-US" dirty="0"/>
              <a:t>No command line needed!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2C3CF8-9216-9ED0-A3B0-F8579893F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54" y="1825625"/>
            <a:ext cx="5560316" cy="411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97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61EF-1183-C54B-8E79-C9CDF7235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53D27-75CF-5DE1-2134-E83A0327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don’t have a </a:t>
            </a:r>
            <a:r>
              <a:rPr lang="en-US" dirty="0" err="1"/>
              <a:t>Github</a:t>
            </a:r>
            <a:r>
              <a:rPr lang="en-US" dirty="0"/>
              <a:t> account, create one</a:t>
            </a:r>
          </a:p>
          <a:p>
            <a:r>
              <a:rPr lang="en-US" dirty="0"/>
              <a:t>Go to the </a:t>
            </a:r>
            <a:r>
              <a:rPr lang="en-US" dirty="0" err="1"/>
              <a:t>Github</a:t>
            </a:r>
            <a:r>
              <a:rPr lang="en-US" dirty="0"/>
              <a:t> repository </a:t>
            </a:r>
            <a:r>
              <a:rPr lang="en-US" dirty="0">
                <a:hlinkClick r:id="rId2"/>
              </a:rPr>
              <a:t>https://github.com/BIG-UVA/rivanna_slurm_git_tutorial</a:t>
            </a:r>
            <a:endParaRPr lang="en-US" dirty="0"/>
          </a:p>
          <a:p>
            <a:r>
              <a:rPr lang="en-US" dirty="0"/>
              <a:t>Fork the repository into your personal repositories</a:t>
            </a:r>
          </a:p>
          <a:p>
            <a:r>
              <a:rPr lang="en-US" dirty="0"/>
              <a:t>Start a new project in </a:t>
            </a:r>
            <a:r>
              <a:rPr lang="en-US" dirty="0" err="1"/>
              <a:t>Rstudio</a:t>
            </a:r>
            <a:r>
              <a:rPr lang="en-US" dirty="0"/>
              <a:t>, pointing towards your forked repository</a:t>
            </a:r>
          </a:p>
        </p:txBody>
      </p:sp>
    </p:spTree>
    <p:extLst>
      <p:ext uri="{BB962C8B-B14F-4D97-AF65-F5344CB8AC3E}">
        <p14:creationId xmlns:p14="http://schemas.microsoft.com/office/powerpoint/2010/main" val="145359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533</Words>
  <Application>Microsoft Macintosh PowerPoint</Application>
  <PresentationFormat>Widescreen</PresentationFormat>
  <Paragraphs>72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HPC Analyses with  Code Versioning</vt:lpstr>
      <vt:lpstr>Goals</vt:lpstr>
      <vt:lpstr>Three main technologies</vt:lpstr>
      <vt:lpstr>git is a way to store and version control your code</vt:lpstr>
      <vt:lpstr>Commonly used git commands</vt:lpstr>
      <vt:lpstr>More advanced git commands</vt:lpstr>
      <vt:lpstr>Github is online storage to store and share code using git</vt:lpstr>
      <vt:lpstr>git / Github integrates well with RStudio</vt:lpstr>
      <vt:lpstr>Tutorial Part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Lawson, Mark J (mjl3p)</dc:creator>
  <cp:lastModifiedBy>Lawson, Mark J (mjl3p)</cp:lastModifiedBy>
  <cp:revision>6</cp:revision>
  <dcterms:created xsi:type="dcterms:W3CDTF">2025-12-08T15:38:47Z</dcterms:created>
  <dcterms:modified xsi:type="dcterms:W3CDTF">2025-12-08T19:14:37Z</dcterms:modified>
</cp:coreProperties>
</file>